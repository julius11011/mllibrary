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Calibri"/>
              </a:defRPr>
            </a:pPr>
            <a:r>
              <a:t>SUPREME COURT OF THE PHILIPPINES • A.M. NO. 22-09-01-SC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Georgia"/>
              </a:defRPr>
            </a:pPr>
            <a:r>
              <a:t>CANON III (CANON 3): FIDELITY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Calibri"/>
              </a:defRPr>
            </a:pPr>
            <a:r>
              <a:t>Complete 56 Sections &amp; Landmark Precedents Masterclass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10360152" cy="283464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9784080" cy="2468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• Governing Code: Code of Professional Responsibility and Accountability (CPRA)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• Core Pillars: Undivided Loyalty, Fiduciary Sanctity, Anti-Commingling &amp; Ethical Stewardship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• 16 Landmark Supreme Court Precedents &amp; 10 Core Thematic Modules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• Manila Law College (MLC) Law Library • Bar Reviewer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1 • TIMELINE: 00:00 – 02:15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Foundations of Legal Practice: Sections 1 to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1 Practice of Law: </a:t>
            </a:r>
            <a:r>
              <a:rPr sz="1600">
                <a:solidFill>
                  <a:srgbClr val="E2E8F0"/>
                </a:solidFill>
                <a:latin typeface="Calibri"/>
              </a:rPr>
              <a:t>Rendition of legal services and judgment; requires Philippine Bar membership.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2 Tripartite Duty: </a:t>
            </a:r>
            <a:r>
              <a:rPr sz="1600">
                <a:solidFill>
                  <a:srgbClr val="E2E8F0"/>
                </a:solidFill>
                <a:latin typeface="Calibri"/>
              </a:rPr>
              <a:t>Lawyer serves concurrently as citizen, court officer, and zealous advocate.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3 &amp; 5 Fiduciary Bond: </a:t>
            </a:r>
            <a:r>
              <a:rPr sz="1600">
                <a:solidFill>
                  <a:srgbClr val="E2E8F0"/>
                </a:solidFill>
                <a:latin typeface="Calibri"/>
              </a:rPr>
              <a:t>Attaches the moment advice is sought; unauthorized appearance is strictly barred.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4 Authority to Bind: </a:t>
            </a:r>
            <a:r>
              <a:rPr sz="1600">
                <a:solidFill>
                  <a:srgbClr val="E2E8F0"/>
                </a:solidFill>
                <a:latin typeface="Calibri"/>
              </a:rPr>
              <a:t>No authority to settle or waive client rights without express written authority.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LANDMARK CASES: CAYETANO (1991) &amp; BURBE (2002)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Cayetano v. Monsod (1991): </a:t>
            </a:r>
            <a:r>
              <a:rPr sz="1600">
                <a:solidFill>
                  <a:srgbClr val="F8FAFC"/>
                </a:solidFill>
                <a:latin typeface="Calibri"/>
              </a:rPr>
              <a:t>Practice of law extends far beyond litigation to corporate counsel, research, teaching, and administrative work.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Burbe v. Magulta (2002): </a:t>
            </a:r>
            <a:r>
              <a:rPr sz="1600">
                <a:solidFill>
                  <a:srgbClr val="F8FAFC"/>
                </a:solidFill>
                <a:latin typeface="Calibri"/>
              </a:rPr>
              <a:t>The fiduciary bond attaches the exact moment advice is sought. Lack of formal contract or unpaid fees does not negate duty.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2 • TIMELINE: 02:15 – 04:20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Fiduciary Core, Settlement &amp; Client Fraud: Sections 6 to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6 Fiduciary Duty: </a:t>
            </a:r>
            <a:r>
              <a:rPr sz="1600">
                <a:solidFill>
                  <a:srgbClr val="E2E8F0"/>
                </a:solidFill>
                <a:latin typeface="Calibri"/>
              </a:rPr>
              <a:t>Demands utmost candor, fair dealing, and undivided fidelity to the client.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7 No Self-Dealing: </a:t>
            </a:r>
            <a:r>
              <a:rPr sz="1600">
                <a:solidFill>
                  <a:srgbClr val="E2E8F0"/>
                </a:solidFill>
                <a:latin typeface="Calibri"/>
              </a:rPr>
              <a:t>Strict ban on using client secrets to secure personal financial windfalls.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8 Duty to Settle: </a:t>
            </a:r>
            <a:r>
              <a:rPr sz="1600">
                <a:solidFill>
                  <a:srgbClr val="E2E8F0"/>
                </a:solidFill>
                <a:latin typeface="Calibri"/>
              </a:rPr>
              <a:t>Affirmative obligation to encourage fair settlement rather than instigating lawsuits.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9 Client Fraud: </a:t>
            </a:r>
            <a:r>
              <a:rPr sz="1600">
                <a:solidFill>
                  <a:srgbClr val="E2E8F0"/>
                </a:solidFill>
                <a:latin typeface="Calibri"/>
              </a:rPr>
              <a:t>Must demand client correct fraud; mandatory withdrawal if client refuses.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LANDMARK CASES: SAMSON (2013) &amp; PITCHER (2013)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Samson v. Era (2013): </a:t>
            </a:r>
            <a:r>
              <a:rPr sz="1600">
                <a:solidFill>
                  <a:srgbClr val="F8FAFC"/>
                </a:solidFill>
                <a:latin typeface="Calibri"/>
              </a:rPr>
              <a:t>Confidential inside information obtained from a client cannot be used to take an adverse commercial position.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Pitcher v. Gagate (2013): </a:t>
            </a:r>
            <a:r>
              <a:rPr sz="1600">
                <a:solidFill>
                  <a:srgbClr val="F8FAFC"/>
                </a:solidFill>
                <a:latin typeface="Calibri"/>
              </a:rPr>
              <a:t>Lawyers are ministers of peace. Pursuing vexatious suits instead of conciliation violates fiduciary duty to justice.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3 • TIMELINE: 04:20 – 06:30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Law Firm Hierarchy &amp; Supervised Associates: Sections 10 to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10 Subordinate Staff: </a:t>
            </a:r>
            <a:r>
              <a:rPr sz="1600">
                <a:solidFill>
                  <a:srgbClr val="E2E8F0"/>
                </a:solidFill>
                <a:latin typeface="Calibri"/>
              </a:rPr>
              <a:t>Firms and partners strictly liable for errors of paralegals and staff.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11 Supervisory Partners: </a:t>
            </a:r>
            <a:r>
              <a:rPr sz="1600">
                <a:solidFill>
                  <a:srgbClr val="E2E8F0"/>
                </a:solidFill>
                <a:latin typeface="Calibri"/>
              </a:rPr>
              <a:t>Partners co-liable if they direct, ratify, or fail to stop associate breaches.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12 Junior Associates: </a:t>
            </a:r>
            <a:r>
              <a:rPr sz="1600">
                <a:solidFill>
                  <a:srgbClr val="E2E8F0"/>
                </a:solidFill>
                <a:latin typeface="Calibri"/>
              </a:rPr>
              <a:t>Every lawyer retains personal, independent responsibility under the Oath.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Superior Orders Abolished: </a:t>
            </a:r>
            <a:r>
              <a:rPr sz="1600">
                <a:solidFill>
                  <a:srgbClr val="E2E8F0"/>
                </a:solidFill>
                <a:latin typeface="Calibri"/>
              </a:rPr>
              <a:t>Cannot invoke senior partner orders to justify filing false pleadings.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ETHICAL DOCTRINE: CRUZ V. MINA (2007) &amp; ASSOCIATE 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Cruz v. Mina (2007): </a:t>
            </a:r>
            <a:r>
              <a:rPr sz="1600">
                <a:solidFill>
                  <a:srgbClr val="F8FAFC"/>
                </a:solidFill>
                <a:latin typeface="Calibri"/>
              </a:rPr>
              <a:t>Every lawyer admitted to the Bar exercises independent moral agency. An associate cannot surrender ethics to protect a salary.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No Scapegoating: </a:t>
            </a:r>
            <a:r>
              <a:rPr sz="1600">
                <a:solidFill>
                  <a:srgbClr val="F8FAFC"/>
                </a:solidFill>
                <a:latin typeface="Calibri"/>
              </a:rPr>
              <a:t>Senior partners cannot deflect liability onto paralegals or fresh graduates for unverified or deceitful court submissions.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4 • TIMELINE: 06:30 – 08:45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Serving Two Masters: Conflict of Interest: Sections 13 to 15, 17 to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13-14 Current Clients: </a:t>
            </a:r>
            <a:r>
              <a:rPr sz="1600">
                <a:solidFill>
                  <a:srgbClr val="E2E8F0"/>
                </a:solidFill>
                <a:latin typeface="Calibri"/>
              </a:rPr>
              <a:t>Bar on opposing active clients without written consent, even in unrelated suits.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17-18 Former Clients: </a:t>
            </a:r>
            <a:r>
              <a:rPr sz="1600">
                <a:solidFill>
                  <a:srgbClr val="E2E8F0"/>
                </a:solidFill>
                <a:latin typeface="Calibri"/>
              </a:rPr>
              <a:t>Confidentiality never expires; cannot oppose former clients in related cases.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19 Corporate Entity: </a:t>
            </a:r>
            <a:r>
              <a:rPr sz="1600">
                <a:solidFill>
                  <a:srgbClr val="E2E8F0"/>
                </a:solidFill>
                <a:latin typeface="Calibri"/>
              </a:rPr>
              <a:t>In derivative suits, counsel represents the corporation, not board looters.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15 &amp; 20 Screening Walls: </a:t>
            </a:r>
            <a:r>
              <a:rPr sz="1600">
                <a:solidFill>
                  <a:srgbClr val="E2E8F0"/>
                </a:solidFill>
                <a:latin typeface="Calibri"/>
              </a:rPr>
              <a:t>Mandatory ethical walls for lateral hires and legal aid volunteers.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LANDMARK CASES: QUIAMBAO (2005) &amp; HORNILLA (2003)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Quiambao v. Bamba (2005): </a:t>
            </a:r>
            <a:r>
              <a:rPr sz="1600">
                <a:solidFill>
                  <a:srgbClr val="F8FAFC"/>
                </a:solidFill>
                <a:latin typeface="Calibri"/>
              </a:rPr>
              <a:t>Corporate counsel cannot represent an adverse party against the company president; loyalty is indivisible.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Hornilla v. Saldivar (2003): </a:t>
            </a:r>
            <a:r>
              <a:rPr sz="1600">
                <a:solidFill>
                  <a:srgbClr val="F8FAFC"/>
                </a:solidFill>
                <a:latin typeface="Calibri"/>
              </a:rPr>
              <a:t>In derivative suits, counsel represents the corporate entity and cannot defend directors accused of looting the treasury.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Anglo v. Valencia (2016): </a:t>
            </a:r>
            <a:r>
              <a:rPr sz="1600">
                <a:solidFill>
                  <a:srgbClr val="F8FAFC"/>
                </a:solidFill>
                <a:latin typeface="Calibri"/>
              </a:rPr>
              <a:t>Prior client secrets cannot be weaponized in subsequent adverse representations.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5 • TIMELINE: 08:45 – 11:00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Romance Ban &amp; Litigation Tactics: Sections 16, 21 to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16 No Romance Rule: </a:t>
            </a:r>
            <a:r>
              <a:rPr sz="1600">
                <a:solidFill>
                  <a:srgbClr val="E2E8F0"/>
                </a:solidFill>
                <a:latin typeface="Calibri"/>
              </a:rPr>
              <a:t>Strict ban on dating or sexual relations with clients during active engagement.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21 Zero Gifts to Courts: </a:t>
            </a:r>
            <a:r>
              <a:rPr sz="1600">
                <a:solidFill>
                  <a:srgbClr val="E2E8F0"/>
                </a:solidFill>
                <a:latin typeface="Calibri"/>
              </a:rPr>
              <a:t>Absolute ban on giving gifts, donations, or food to judges or court staff.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22 No Undue Advantage: </a:t>
            </a:r>
            <a:r>
              <a:rPr sz="1600">
                <a:solidFill>
                  <a:srgbClr val="E2E8F0"/>
                </a:solidFill>
                <a:latin typeface="Calibri"/>
              </a:rPr>
              <a:t>Cannot exploit unrepresented parties' lack of legal training.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23-24 Fair Dealing: </a:t>
            </a:r>
            <a:r>
              <a:rPr sz="1600">
                <a:solidFill>
                  <a:srgbClr val="E2E8F0"/>
                </a:solidFill>
                <a:latin typeface="Calibri"/>
              </a:rPr>
              <a:t>Forum shopping penalized; cannot negotiate with represented parties directly.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LANDMARK CASES: EALA (2007) &amp; SOTTO (1989)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Eala v. Villarosa (2007): </a:t>
            </a:r>
            <a:r>
              <a:rPr sz="1600">
                <a:solidFill>
                  <a:srgbClr val="F8FAFC"/>
                </a:solidFill>
                <a:latin typeface="Calibri"/>
              </a:rPr>
              <a:t>Disbarment for romantic affair with a client, exploiting the fiduciary power balance and bringing severe dishonor to the Bar.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Heirs of Sotto v. Palicte (1989): </a:t>
            </a:r>
            <a:r>
              <a:rPr sz="1600">
                <a:solidFill>
                  <a:srgbClr val="F8FAFC"/>
                </a:solidFill>
                <a:latin typeface="Calibri"/>
              </a:rPr>
              <a:t>Repeatedly filing identical complaints across courts constitutes contempt and gross abuse of judicial process.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Camacho v. Pangilinan (2001): </a:t>
            </a:r>
            <a:r>
              <a:rPr sz="1600">
                <a:solidFill>
                  <a:srgbClr val="F8FAFC"/>
                </a:solidFill>
                <a:latin typeface="Calibri"/>
              </a:rPr>
              <a:t>Bypassing opposing counsel to settle directly warrants disciplinary suspension.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6 • TIMELINE: 11:00 – 13:10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Firm Names &amp; The Revolving Door: Sections 25 to 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25 Solo Practitioners: </a:t>
            </a:r>
            <a:r>
              <a:rPr sz="1600">
                <a:solidFill>
                  <a:srgbClr val="E2E8F0"/>
                </a:solidFill>
                <a:latin typeface="Calibri"/>
              </a:rPr>
              <a:t>Must maintain contingency arrangements for emergency case coverage.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26 Deceased Partners: </a:t>
            </a:r>
            <a:r>
              <a:rPr sz="1600">
                <a:solidFill>
                  <a:srgbClr val="E2E8F0"/>
                </a:solidFill>
                <a:latin typeface="Calibri"/>
              </a:rPr>
              <a:t>Allowed on firm names provided status is clearly indicated on stationery.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27 Public Office: </a:t>
            </a:r>
            <a:r>
              <a:rPr sz="1600">
                <a:solidFill>
                  <a:srgbClr val="E2E8F0"/>
                </a:solidFill>
                <a:latin typeface="Calibri"/>
              </a:rPr>
              <a:t>Partner entering government must withdraw and drop name from firm.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29 Revolving Door: </a:t>
            </a:r>
            <a:r>
              <a:rPr sz="1600">
                <a:solidFill>
                  <a:srgbClr val="E2E8F0"/>
                </a:solidFill>
                <a:latin typeface="Calibri"/>
              </a:rPr>
              <a:t>Former public lawyers cannot handle matters intervened in while in office.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LANDMARK CASES: SYCIP (1979), PCGG (2005) &amp; SUAREZ (1940)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In Re: SyCip (1979): </a:t>
            </a:r>
            <a:r>
              <a:rPr sz="1600">
                <a:solidFill>
                  <a:srgbClr val="F8FAFC"/>
                </a:solidFill>
                <a:latin typeface="Calibri"/>
              </a:rPr>
              <a:t>Classic firm name debate; modern CPRA permits retaining deceased partners with transparent letterhead notice.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PCGG v. Sandiganbayan (2005): </a:t>
            </a:r>
            <a:r>
              <a:rPr sz="1600">
                <a:solidFill>
                  <a:srgbClr val="F8FAFC"/>
                </a:solidFill>
                <a:latin typeface="Calibri"/>
              </a:rPr>
              <a:t>Government service is not a springboard to gather state secrets and monetize them in private practice.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Suarez v. Platon (1940): </a:t>
            </a:r>
            <a:r>
              <a:rPr sz="1600">
                <a:solidFill>
                  <a:srgbClr val="F8FAFC"/>
                </a:solidFill>
                <a:latin typeface="Calibri"/>
              </a:rPr>
              <a:t>Prosecutor's primary duty is truth and justice, not accumulating convictions.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7 • TIMELINE: 13:10 – 15:15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Client Secrets &amp; Limited Legal Services: Sections 32 to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32 Secret Consultations: </a:t>
            </a:r>
            <a:r>
              <a:rPr sz="1600">
                <a:solidFill>
                  <a:srgbClr val="E2E8F0"/>
                </a:solidFill>
                <a:latin typeface="Calibri"/>
              </a:rPr>
              <a:t>Fact of consultation is privileged even if case is declined and unpaid.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33-34 Paralegal Bounds: </a:t>
            </a:r>
            <a:r>
              <a:rPr sz="1600">
                <a:solidFill>
                  <a:srgbClr val="E2E8F0"/>
                </a:solidFill>
                <a:latin typeface="Calibri"/>
              </a:rPr>
              <a:t>Paralegals cannot give legal advice, set fees, or sign court pleadings.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35-36 Limited Services: </a:t>
            </a:r>
            <a:r>
              <a:rPr sz="1600">
                <a:solidFill>
                  <a:srgbClr val="E2E8F0"/>
                </a:solidFill>
                <a:latin typeface="Calibri"/>
              </a:rPr>
              <a:t>Authorizes unbundled short-term representation for specific incidents.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37-38 Full Privilege: </a:t>
            </a:r>
            <a:r>
              <a:rPr sz="1600">
                <a:solidFill>
                  <a:srgbClr val="E2E8F0"/>
                </a:solidFill>
                <a:latin typeface="Calibri"/>
              </a:rPr>
              <a:t>Full attorney-client privilege applies; clean exit upon task completion.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LANDMARK DOCTRINE: REGALA V. SANDIGANBAYAN (1996)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Regala v. Sandiganbayan (1996): </a:t>
            </a:r>
            <a:r>
              <a:rPr sz="1600">
                <a:solidFill>
                  <a:srgbClr val="F8FAFC"/>
                </a:solidFill>
                <a:latin typeface="Calibri"/>
              </a:rPr>
              <a:t>Client identity and consultations are protected under the sacred shield of attorney-client privilege.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Non-Delegable Functions: </a:t>
            </a:r>
            <a:r>
              <a:rPr sz="1600">
                <a:solidFill>
                  <a:srgbClr val="F8FAFC"/>
                </a:solidFill>
                <a:latin typeface="Calibri"/>
              </a:rPr>
              <a:t>Delegating legal analysis or signature of pleadings to paralegals constitutes aiding in the unauthorized practice of law.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8 • TIMELINE: 15:15 – 16:50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Clinical Student Practice: Sections 39 to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Rule 138-A (CLEP): </a:t>
            </a:r>
            <a:r>
              <a:rPr sz="1600">
                <a:solidFill>
                  <a:srgbClr val="E2E8F0"/>
                </a:solidFill>
                <a:latin typeface="Calibri"/>
              </a:rPr>
              <a:t>Senior law students certified to represent indigent clients under supervision.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39 Student Liability: </a:t>
            </a:r>
            <a:r>
              <a:rPr sz="1600">
                <a:solidFill>
                  <a:srgbClr val="E2E8F0"/>
                </a:solidFill>
                <a:latin typeface="Calibri"/>
              </a:rPr>
              <a:t>Student practitioners bound directly by every canon and liability of the CPRA.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Bar Exam Sanctions: </a:t>
            </a:r>
            <a:r>
              <a:rPr sz="1600">
                <a:solidFill>
                  <a:srgbClr val="E2E8F0"/>
                </a:solidFill>
                <a:latin typeface="Calibri"/>
              </a:rPr>
              <a:t>Ethical violations by student practitioners can bar admission to the Bar.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40 Director Liability: </a:t>
            </a:r>
            <a:r>
              <a:rPr sz="1600">
                <a:solidFill>
                  <a:srgbClr val="E2E8F0"/>
                </a:solidFill>
                <a:latin typeface="Calibri"/>
              </a:rPr>
              <a:t>Clinic directors and supervising lawyers carry direct professional liability.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REGULATORY ANCHOR: RULE 138-A &amp; CLINICAL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Student Accountability: </a:t>
            </a:r>
            <a:r>
              <a:rPr sz="1600">
                <a:solidFill>
                  <a:srgbClr val="F8FAFC"/>
                </a:solidFill>
                <a:latin typeface="Calibri"/>
              </a:rPr>
              <a:t>Clinical certification is an extraordinary privilege, not an ethical shield. Students must maintain absolute candor and decorum.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Active Supervision Mandate: </a:t>
            </a:r>
            <a:r>
              <a:rPr sz="1600">
                <a:solidFill>
                  <a:srgbClr val="F8FAFC"/>
                </a:solidFill>
                <a:latin typeface="Calibri"/>
              </a:rPr>
              <a:t>Supervising attorneys must actively review all pleadings and guide students directly in all court proceedings.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9 • TIMELINE: 16:50 – 18:55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Legal Fees, Referrals &amp; Attorney's Liens: Sections 41 to 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41 Fair &amp; Reasonable Fees: </a:t>
            </a:r>
            <a:r>
              <a:rPr sz="1600">
                <a:solidFill>
                  <a:srgbClr val="E2E8F0"/>
                </a:solidFill>
                <a:latin typeface="Calibri"/>
              </a:rPr>
              <a:t>9-factor test; quantum meruit applies without written contract.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42-43 No Fixer Fees: </a:t>
            </a:r>
            <a:r>
              <a:rPr sz="1600">
                <a:solidFill>
                  <a:srgbClr val="E2E8F0"/>
                </a:solidFill>
                <a:latin typeface="Calibri"/>
              </a:rPr>
              <a:t>Referral cuts require consent; ban on sharing fees with non-lawyers.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44 Third-Party Payers: </a:t>
            </a:r>
            <a:r>
              <a:rPr sz="1600">
                <a:solidFill>
                  <a:srgbClr val="E2E8F0"/>
                </a:solidFill>
                <a:latin typeface="Calibri"/>
              </a:rPr>
              <a:t>Payer cannot dictate tactics or compromise client independence.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47 Notice of Lien: </a:t>
            </a:r>
            <a:r>
              <a:rPr sz="1600">
                <a:solidFill>
                  <a:srgbClr val="E2E8F0"/>
                </a:solidFill>
                <a:latin typeface="Calibri"/>
              </a:rPr>
              <a:t>Enforce liens via simple notice without delaying the main trial.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LANDMARK CASES: MASMUD (2009) &amp; PALACIOS (2018)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Masmud v. NLRC (2009): </a:t>
            </a:r>
            <a:r>
              <a:rPr sz="1600">
                <a:solidFill>
                  <a:srgbClr val="F8FAFC"/>
                </a:solidFill>
                <a:latin typeface="Calibri"/>
              </a:rPr>
              <a:t>Fee recovery grounded on quantum meruit based on actual skill, labor, and benefit rendered to the client.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Palacios v. Amora (2018): </a:t>
            </a:r>
            <a:r>
              <a:rPr sz="1600">
                <a:solidFill>
                  <a:srgbClr val="F8FAFC"/>
                </a:solidFill>
                <a:latin typeface="Calibri"/>
              </a:rPr>
              <a:t>Attorney's liens must follow procedural notices and cannot be used to extort excessive fees or disrupt court dockets.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10A • TIMELINE: 18:55 – 20:10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Client Trust Funds &amp; Financial Bans: Sections 49 to 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49-50 Anti-Commingling: </a:t>
            </a:r>
            <a:r>
              <a:rPr sz="1600">
                <a:solidFill>
                  <a:srgbClr val="E2E8F0"/>
                </a:solidFill>
                <a:latin typeface="Calibri"/>
              </a:rPr>
              <a:t>Client funds are sacred trust; must be kept strictly separate from firm accounts.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Zero Tolerance on Estafa: </a:t>
            </a:r>
            <a:r>
              <a:rPr sz="1600">
                <a:solidFill>
                  <a:srgbClr val="E2E8F0"/>
                </a:solidFill>
                <a:latin typeface="Calibri"/>
              </a:rPr>
              <a:t>Misappropriating funds or failing to account results in instant disbarment.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51 Litigated Property: </a:t>
            </a:r>
            <a:r>
              <a:rPr sz="1600">
                <a:solidFill>
                  <a:srgbClr val="E2E8F0"/>
                </a:solidFill>
                <a:latin typeface="Calibri"/>
              </a:rPr>
              <a:t>Codifies Art. 1491: cannot purchase client rights/property in active suit.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52 Lending &amp; Borrowing: </a:t>
            </a:r>
            <a:r>
              <a:rPr sz="1600">
                <a:solidFill>
                  <a:srgbClr val="E2E8F0"/>
                </a:solidFill>
                <a:latin typeface="Calibri"/>
              </a:rPr>
              <a:t>Bar on borrowing from or loan-sharking active clients during representation.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LANDMARK CASES: FOSTER (2014) &amp; HERNANDEZ (2005)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Foster v. Agtang (2014): </a:t>
            </a:r>
            <a:r>
              <a:rPr sz="1600">
                <a:solidFill>
                  <a:srgbClr val="F8FAFC"/>
                </a:solidFill>
                <a:latin typeface="Calibri"/>
              </a:rPr>
              <a:t>Pocketing filing fees and commingling trust funds warrants instant disbarment and estafa criminal charges.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Hernandez v. Go (2005): </a:t>
            </a:r>
            <a:r>
              <a:rPr sz="1600">
                <a:solidFill>
                  <a:srgbClr val="F8FAFC"/>
                </a:solidFill>
                <a:latin typeface="Calibri"/>
              </a:rPr>
              <a:t>Purchasing client property involved in pending litigation violates Article 1491, resulting in disbarment.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Frias v. Lozada (2006): </a:t>
            </a:r>
            <a:r>
              <a:rPr sz="1600">
                <a:solidFill>
                  <a:srgbClr val="F8FAFC"/>
                </a:solidFill>
                <a:latin typeface="Calibri"/>
              </a:rPr>
              <a:t>Borrowing money from a client exploits the fiduciary relationship and warrants suspension.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MODULE 10B • TIMELINE: 20:10 – 21:18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Termination of Engagement &amp; File Turnover: Sections 53 to 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STATUTORY RULES &amp; MANDATES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54 Client Discharge: </a:t>
            </a:r>
            <a:r>
              <a:rPr sz="1600">
                <a:solidFill>
                  <a:srgbClr val="E2E8F0"/>
                </a:solidFill>
                <a:latin typeface="Calibri"/>
              </a:rPr>
              <a:t>Client holds absolute prerogative to discharge counsel at will with or without cause.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53 Lawyer Withdrawal: </a:t>
            </a:r>
            <a:r>
              <a:rPr sz="1600">
                <a:solidFill>
                  <a:srgbClr val="E2E8F0"/>
                </a:solidFill>
                <a:latin typeface="Calibri"/>
              </a:rPr>
              <a:t>Lawyer withdrawal requires good cause upon formal written notice to court.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55 Death of Parties: </a:t>
            </a:r>
            <a:r>
              <a:rPr sz="1600">
                <a:solidFill>
                  <a:srgbClr val="E2E8F0"/>
                </a:solidFill>
                <a:latin typeface="Calibri"/>
              </a:rPr>
              <a:t>Death ends personal bond, but does not terminate law firm retainer.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§ 56 No Hostage Files: </a:t>
            </a:r>
            <a:r>
              <a:rPr sz="1600">
                <a:solidFill>
                  <a:srgbClr val="E2E8F0"/>
                </a:solidFill>
                <a:latin typeface="Calibri"/>
              </a:rPr>
              <a:t>Immediate turnover of all documents, evidence, and unexpended funds.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01A2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LANDMARK CASES: MONTANO (2001) &amp; RAMIREZ (1967)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Montano v. IBP (2001): </a:t>
            </a:r>
            <a:r>
              <a:rPr sz="1600">
                <a:solidFill>
                  <a:srgbClr val="F8FAFC"/>
                </a:solidFill>
                <a:latin typeface="Calibri"/>
              </a:rPr>
              <a:t>Counsel cannot abandon a client; withdrawal requires justifiable cause and leave of court.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• Ramirez v. Ner (1967): </a:t>
            </a:r>
            <a:r>
              <a:rPr sz="1600">
                <a:solidFill>
                  <a:srgbClr val="F8FAFC"/>
                </a:solidFill>
                <a:latin typeface="Calibri"/>
              </a:rPr>
              <a:t>Original client records and case files cannot be held hostage as leverage for fee collection. Turnover must be immediate.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RAPID BAR EXAM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Master Statutory Codex: Sections 1 to 56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9204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1-5: Practice of Law &amp; Fiduciary Bond Inception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6-9: Fiduciary Candor, Settlement &amp; Reporting Fraud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10-12: Supervisory Partner Liability &amp; No Superior Orders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13-15: Conflict of Interest &amp; Lateral Hire Screening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16: Strict 'No Romance' Rule with Clients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17-20: Former Clients, Corporate Entity &amp; Legal Aid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21-24: Zero Gifts, Forum Shopping &amp; Anti-Poaching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9204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25-27: Solo Practitioners &amp; Firm Names with Deceased Partners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28-31: Government Service Revolving Door &amp; Prosecutors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32-34: Consultation Secrecy &amp; Non-Delegable Paralegal Tasks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35-38: Limited Legal Services Framework &amp; Clean Exit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39-40: Law Student Practice (Rule 138-A) &amp; Director Liability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41-48: Fair Fees (Quantum Meruit), No Kickbacks &amp; Notice of Lien</a:t>
            </a:r>
          </a:p>
          <a:p>
            <a:pPr>
              <a:spcAft>
                <a:spcPts val="700"/>
              </a:spcAft>
              <a:defRPr sz="1550">
                <a:solidFill>
                  <a:srgbClr val="E2E8F0"/>
                </a:solidFill>
                <a:latin typeface="Calibri"/>
              </a:defRPr>
            </a:pPr>
            <a:r>
              <a:t>• § 49-56: Separate Trust Funds, Article 1491 Ban &amp; No Hostage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Calibri"/>
              </a:defRPr>
            </a:pPr>
            <a:r>
              <a:t>ETHICAL SYNTHESIS &amp; MANIFESTO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Fidelity: The Core Covenant of the Philippine 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10360152" cy="1051560"/>
          </a:xfrm>
          <a:prstGeom prst="roundRect">
            <a:avLst/>
          </a:prstGeom>
          <a:solidFill>
            <a:srgbClr val="182640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784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i="1">
                <a:solidFill>
                  <a:srgbClr val="FBBF24"/>
                </a:solidFill>
                <a:latin typeface="Georgia"/>
              </a:defRPr>
            </a:pPr>
            <a:r>
              <a:t>"Fidelity is not a commercial service; it is the sacred covenant that justifies the public trust in the administration of justice."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360152" cy="3200400"/>
          </a:xfrm>
          <a:prstGeom prst="roundRect">
            <a:avLst/>
          </a:prstGeom>
          <a:solidFill>
            <a:srgbClr val="16213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978408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1. Undivided Allegiance: Represent the client with zeal, but strictly within the bounds of law and truth.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2. Permanent Secrecy: Client confidences survive the conclusion of the case and the death of parties.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3. Sacred Stewardship: Client funds are held in trust; commingling or self-dealing brings swift disbarment.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4. Independent Moral Agency: Every member of the Bar answers personally to the Lawyer's Oath and the Supreme Court.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MLC Law Library • CPRA Canon III (Fidelity) Masterclass •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